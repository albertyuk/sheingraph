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28632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95300"/>
            <a:ext cx="8572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111827"/>
                </a:solidFill>
                <a:latin typeface="PingFang SC"/>
                <a:ea typeface="PingFang SC"/>
              </a:rPr>
              <a:t>女装品牌定位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74295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PingFang SC"/>
                <a:ea typeface="PingFang SC"/>
              </a:rPr>
              <a:t>SHEIN 竞争分析 · 子品牌 × 竞品定位一览 · 2026-07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38250"/>
            <a:ext cx="17145000" cy="2857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600200"/>
            <a:ext cx="11430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ingFang SC"/>
                <a:ea typeface="PingFang SC"/>
              </a:rPr>
              <a:t>SECTION 01</a:t>
            </a:r>
            <a:r>
              <a:rPr sz="2000" b="1">
                <a:solidFill>
                  <a:srgbClr val="111827"/>
                </a:solidFill>
                <a:latin typeface="PingFang SC"/>
                <a:ea typeface="PingFang SC"/>
              </a:rPr>
              <a:t>   定位图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62150"/>
            <a:ext cx="1143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ingFang SC"/>
                <a:ea typeface="PingFang SC"/>
              </a:rPr>
              <a:t>横轴:价格与规模定位 · 纵轴:功能基础 → 时尚审美 · 虚线为中位参考线(5)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247900"/>
            <a:ext cx="17145000" cy="942975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572500" y="3124200"/>
            <a:ext cx="0" cy="7391400"/>
          </a:xfrm>
          <a:prstGeom prst="line">
            <a:avLst/>
          </a:prstGeom>
          <a:ln w="15240">
            <a:solidFill>
              <a:srgbClr val="C9CCD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19250" y="6819900"/>
            <a:ext cx="13906500" cy="0"/>
          </a:xfrm>
          <a:prstGeom prst="line">
            <a:avLst/>
          </a:prstGeom>
          <a:ln w="15240">
            <a:solidFill>
              <a:srgbClr val="C9CCD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90650" y="10515600"/>
            <a:ext cx="14458950" cy="0"/>
          </a:xfrm>
          <a:prstGeom prst="line">
            <a:avLst/>
          </a:prstGeom>
          <a:ln w="20320">
            <a:solidFill>
              <a:srgbClr val="6B72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619250" y="2800350"/>
            <a:ext cx="0" cy="7943850"/>
          </a:xfrm>
          <a:prstGeom prst="line">
            <a:avLst/>
          </a:prstGeom>
          <a:ln w="20320">
            <a:solidFill>
              <a:srgbClr val="6B728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19250" y="10515600"/>
            <a:ext cx="0" cy="66675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28750" y="1062990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00550" y="10515600"/>
            <a:ext cx="0" cy="66675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10050" y="1062990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52575" y="9037320"/>
            <a:ext cx="66675" cy="0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23950" y="894207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81850" y="10515600"/>
            <a:ext cx="0" cy="66675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91350" y="1062990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52575" y="7559039"/>
            <a:ext cx="66675" cy="0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23950" y="7463789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63150" y="10515600"/>
            <a:ext cx="0" cy="66675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772650" y="1062990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52575" y="6080760"/>
            <a:ext cx="66675" cy="0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23950" y="598551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744450" y="10515600"/>
            <a:ext cx="0" cy="66675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553950" y="1062990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52575" y="4602479"/>
            <a:ext cx="66675" cy="0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3950" y="4507229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525750" y="10515600"/>
            <a:ext cx="0" cy="66675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335250" y="1062990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52575" y="3124200"/>
            <a:ext cx="66675" cy="0"/>
          </a:xfrm>
          <a:prstGeom prst="line">
            <a:avLst/>
          </a:prstGeom>
          <a:ln w="1524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23950" y="3028950"/>
            <a:ext cx="381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9250" y="109156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  <a:latin typeface="PingFang SC"/>
                <a:ea typeface="PingFang SC"/>
              </a:rPr>
              <a:t>大众价格 / 规模化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39600" y="10915650"/>
            <a:ext cx="3810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374151"/>
                </a:solidFill>
                <a:latin typeface="PingFang SC"/>
                <a:ea typeface="PingFang SC"/>
              </a:rPr>
              <a:t>高端价格 / 品牌溢价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7750" y="24955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  <a:latin typeface="PingFang SC"/>
                <a:ea typeface="PingFang SC"/>
              </a:rPr>
              <a:t>时尚 / 审美表达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" y="1022985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  <a:latin typeface="PingFang SC"/>
                <a:ea typeface="PingFang SC"/>
              </a:rPr>
              <a:t>功能 / 基础日常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8250" y="2495550"/>
            <a:ext cx="314325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39700" y="2609850"/>
            <a:ext cx="152400" cy="1524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068300" y="2581275"/>
            <a:ext cx="571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PingFang SC"/>
                <a:ea typeface="PingFang SC"/>
              </a:rPr>
              <a:t>竞品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696950" y="2609850"/>
            <a:ext cx="152400" cy="15240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944600" y="2581275"/>
            <a:ext cx="1714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74151"/>
                </a:solidFill>
                <a:latin typeface="PingFang SC"/>
                <a:ea typeface="PingFang SC"/>
              </a:rPr>
              <a:t>SHEIN 子品牌</a:t>
            </a:r>
          </a:p>
        </p:txBody>
      </p:sp>
      <p:sp>
        <p:nvSpPr>
          <p:cNvPr id="43" name="Oval 42"/>
          <p:cNvSpPr/>
          <p:nvPr/>
        </p:nvSpPr>
        <p:spPr>
          <a:xfrm>
            <a:off x="4314825" y="7842885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3900" y="783336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Uniqlo</a:t>
            </a:r>
          </a:p>
        </p:txBody>
      </p:sp>
      <p:sp>
        <p:nvSpPr>
          <p:cNvPr id="45" name="Oval 44"/>
          <p:cNvSpPr/>
          <p:nvPr/>
        </p:nvSpPr>
        <p:spPr>
          <a:xfrm>
            <a:off x="9182100" y="7842885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1175" y="783336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Everlane</a:t>
            </a:r>
          </a:p>
        </p:txBody>
      </p:sp>
      <p:sp>
        <p:nvSpPr>
          <p:cNvPr id="47" name="Oval 46"/>
          <p:cNvSpPr/>
          <p:nvPr/>
        </p:nvSpPr>
        <p:spPr>
          <a:xfrm>
            <a:off x="11268075" y="7103745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87150" y="709422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COS</a:t>
            </a:r>
          </a:p>
        </p:txBody>
      </p:sp>
      <p:sp>
        <p:nvSpPr>
          <p:cNvPr id="49" name="Oval 48"/>
          <p:cNvSpPr/>
          <p:nvPr/>
        </p:nvSpPr>
        <p:spPr>
          <a:xfrm>
            <a:off x="7096125" y="5255895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0" y="524637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Zara</a:t>
            </a:r>
          </a:p>
        </p:txBody>
      </p:sp>
      <p:sp>
        <p:nvSpPr>
          <p:cNvPr id="51" name="Oval 50"/>
          <p:cNvSpPr/>
          <p:nvPr/>
        </p:nvSpPr>
        <p:spPr>
          <a:xfrm>
            <a:off x="5705475" y="4516754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24550" y="4507229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Princess Polly</a:t>
            </a:r>
          </a:p>
        </p:txBody>
      </p:sp>
      <p:sp>
        <p:nvSpPr>
          <p:cNvPr id="53" name="Oval 52"/>
          <p:cNvSpPr/>
          <p:nvPr/>
        </p:nvSpPr>
        <p:spPr>
          <a:xfrm>
            <a:off x="11268075" y="4147185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87150" y="413766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Free People</a:t>
            </a:r>
          </a:p>
        </p:txBody>
      </p:sp>
      <p:sp>
        <p:nvSpPr>
          <p:cNvPr id="55" name="Oval 54"/>
          <p:cNvSpPr/>
          <p:nvPr/>
        </p:nvSpPr>
        <p:spPr>
          <a:xfrm>
            <a:off x="14049375" y="3777615"/>
            <a:ext cx="171450" cy="171450"/>
          </a:xfrm>
          <a:prstGeom prst="ellipse">
            <a:avLst/>
          </a:prstGeom>
          <a:solidFill>
            <a:srgbClr val="2A78D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06250" y="376809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House of CB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33700" y="7852410"/>
            <a:ext cx="152400" cy="152400"/>
          </a:xfrm>
          <a:prstGeom prst="rect">
            <a:avLst/>
          </a:prstGeom>
          <a:solidFill>
            <a:srgbClr val="008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0100" y="783336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Enliva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9025" y="4895850"/>
            <a:ext cx="152400" cy="152400"/>
          </a:xfrm>
          <a:prstGeom prst="rect">
            <a:avLst/>
          </a:prstGeom>
          <a:solidFill>
            <a:srgbClr val="008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95425" y="487680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ENCHNT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4350" y="6004560"/>
            <a:ext cx="152400" cy="152400"/>
          </a:xfrm>
          <a:prstGeom prst="rect">
            <a:avLst/>
          </a:prstGeom>
          <a:solidFill>
            <a:srgbClr val="008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33900" y="598551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Anewsta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19675" y="4526279"/>
            <a:ext cx="152400" cy="152400"/>
          </a:xfrm>
          <a:prstGeom prst="rect">
            <a:avLst/>
          </a:prstGeom>
          <a:solidFill>
            <a:srgbClr val="008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48125" y="4335779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BELROSIE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5000" y="6743700"/>
            <a:ext cx="152400" cy="152400"/>
          </a:xfrm>
          <a:prstGeom prst="rect">
            <a:avLst/>
          </a:prstGeom>
          <a:solidFill>
            <a:srgbClr val="0083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24550" y="6724650"/>
            <a:ext cx="2095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PingFang SC"/>
                <a:ea typeface="PingFang SC"/>
              </a:rPr>
              <a:t>MOTF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" y="12172950"/>
            <a:ext cx="11430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PingFang SC"/>
                <a:ea typeface="PingFang SC"/>
              </a:rPr>
              <a:t>SECTION 02</a:t>
            </a:r>
            <a:r>
              <a:rPr sz="2000" b="1">
                <a:solidFill>
                  <a:srgbClr val="111827"/>
                </a:solidFill>
                <a:latin typeface="PingFang SC"/>
                <a:ea typeface="PingFang SC"/>
              </a:rPr>
              <a:t>   品牌图鉴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" y="12534900"/>
            <a:ext cx="1143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PingFang SC"/>
                <a:ea typeface="PingFang SC"/>
              </a:rPr>
              <a:t>12 个品牌:7 个竞品 + 5 个 SHEIN 子品牌 · 每卡 2–3 张代表产品图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71500" y="128587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3900" y="129921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Uniqlo</a:t>
            </a:r>
            <a:r>
              <a:rPr sz="1050" b="0">
                <a:solidFill>
                  <a:srgbClr val="6B7280"/>
                </a:solidFill>
                <a:latin typeface="PingFang SC"/>
                <a:ea typeface="PingFang SC"/>
              </a:rPr>
              <a:t>  优衣库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05250" y="129921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05250" y="130206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71500" y="133540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4" name="Picture 73" descr="uniqlo_3.jpg"/>
          <p:cNvPicPr>
            <a:picLocks noChangeAspect="1"/>
          </p:cNvPicPr>
          <p:nvPr/>
        </p:nvPicPr>
        <p:blipFill>
          <a:blip r:embed="rId2"/>
          <a:srcRect l="9888" r="9888"/>
          <a:stretch>
            <a:fillRect/>
          </a:stretch>
        </p:blipFill>
        <p:spPr>
          <a:xfrm>
            <a:off x="571500" y="133635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5" name="Picture 74" descr="uniqlo_4.jpg"/>
          <p:cNvPicPr>
            <a:picLocks noChangeAspect="1"/>
          </p:cNvPicPr>
          <p:nvPr/>
        </p:nvPicPr>
        <p:blipFill>
          <a:blip r:embed="rId3"/>
          <a:srcRect t="3256" b="3256"/>
          <a:stretch>
            <a:fillRect/>
          </a:stretch>
        </p:blipFill>
        <p:spPr>
          <a:xfrm>
            <a:off x="2638425" y="133635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6" name="TextBox 75"/>
          <p:cNvSpPr txBox="1"/>
          <p:nvPr/>
        </p:nvSpPr>
        <p:spPr>
          <a:xfrm>
            <a:off x="723900" y="160305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以 LifeWear 理念为核心的基础款巨头,Supima 棉、HEATTECH 等面料科技驱动,款式极简耐穿,大众价格、全球规模化供应。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390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390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基础日常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46685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6685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功能面料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20980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0980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高性价比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14900" y="128587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67300" y="129921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Everlane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248650" y="129921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48650" y="130206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914900" y="133540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8" name="Picture 87" descr="everlane_1.jpg"/>
          <p:cNvPicPr>
            <a:picLocks noChangeAspect="1"/>
          </p:cNvPicPr>
          <p:nvPr/>
        </p:nvPicPr>
        <p:blipFill>
          <a:blip r:embed="rId4"/>
          <a:srcRect l="16182" r="16182"/>
          <a:stretch>
            <a:fillRect/>
          </a:stretch>
        </p:blipFill>
        <p:spPr>
          <a:xfrm>
            <a:off x="491490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9" name="Picture 88" descr="everlane_2.jpg"/>
          <p:cNvPicPr>
            <a:picLocks noChangeAspect="1"/>
          </p:cNvPicPr>
          <p:nvPr/>
        </p:nvPicPr>
        <p:blipFill>
          <a:blip r:embed="rId5"/>
          <a:srcRect l="16182" r="16182"/>
          <a:stretch>
            <a:fillRect/>
          </a:stretch>
        </p:blipFill>
        <p:spPr>
          <a:xfrm>
            <a:off x="629285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0" name="Picture 89" descr="everlane_3.jpg"/>
          <p:cNvPicPr>
            <a:picLocks noChangeAspect="1"/>
          </p:cNvPicPr>
          <p:nvPr/>
        </p:nvPicPr>
        <p:blipFill>
          <a:blip r:embed="rId6"/>
          <a:srcRect l="16729" r="16729"/>
          <a:stretch>
            <a:fillRect/>
          </a:stretch>
        </p:blipFill>
        <p:spPr>
          <a:xfrm>
            <a:off x="7670799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1" name="TextBox 90"/>
          <p:cNvSpPr txBox="1"/>
          <p:nvPr/>
        </p:nvSpPr>
        <p:spPr>
          <a:xfrm>
            <a:off x="5067300" y="160305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美国 DTC 极简基础款品牌,主打「透明定价」与道德供应链,都市通勤基础衣橱,中端价格。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06730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6730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极简基础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81025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81025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透明定价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55320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5320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中端价格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58300" y="128587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410700" y="129921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COS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2592050" y="129921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2592050" y="130206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9258300" y="133540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Picture 102" descr="cos_1.jpg"/>
          <p:cNvPicPr>
            <a:picLocks noChangeAspect="1"/>
          </p:cNvPicPr>
          <p:nvPr/>
        </p:nvPicPr>
        <p:blipFill>
          <a:blip r:embed="rId7"/>
          <a:srcRect l="10075" r="10075"/>
          <a:stretch>
            <a:fillRect/>
          </a:stretch>
        </p:blipFill>
        <p:spPr>
          <a:xfrm>
            <a:off x="925830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4" name="Picture 103" descr="cos_2.jpg"/>
          <p:cNvPicPr>
            <a:picLocks noChangeAspect="1"/>
          </p:cNvPicPr>
          <p:nvPr/>
        </p:nvPicPr>
        <p:blipFill>
          <a:blip r:embed="rId8"/>
          <a:srcRect l="10075" r="10075"/>
          <a:stretch>
            <a:fillRect/>
          </a:stretch>
        </p:blipFill>
        <p:spPr>
          <a:xfrm>
            <a:off x="1063625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5" name="Picture 104" descr="cos_3.jpg"/>
          <p:cNvPicPr>
            <a:picLocks noChangeAspect="1"/>
          </p:cNvPicPr>
          <p:nvPr/>
        </p:nvPicPr>
        <p:blipFill>
          <a:blip r:embed="rId9"/>
          <a:srcRect l="13887" r="13887"/>
          <a:stretch>
            <a:fillRect/>
          </a:stretch>
        </p:blipFill>
        <p:spPr>
          <a:xfrm>
            <a:off x="1201420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6" name="TextBox 105"/>
          <p:cNvSpPr txBox="1"/>
          <p:nvPr/>
        </p:nvSpPr>
        <p:spPr>
          <a:xfrm>
            <a:off x="9410700" y="160305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H&amp;M 集团高端线,建筑感剪裁与中性色系,强调面料与版型的「安静高级感」,中高端定价。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41070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41070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极简高级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153650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53650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建筑剪裁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896600" y="173545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896600" y="173926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中高端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3601700" y="128587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3754100" y="129921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Zara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6935450" y="129921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6935450" y="130206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3601700" y="133540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8" name="Picture 117" descr="zara_1.jpg"/>
          <p:cNvPicPr>
            <a:picLocks noChangeAspect="1"/>
          </p:cNvPicPr>
          <p:nvPr/>
        </p:nvPicPr>
        <p:blipFill>
          <a:blip r:embed="rId10"/>
          <a:srcRect l="10075" r="10075"/>
          <a:stretch>
            <a:fillRect/>
          </a:stretch>
        </p:blipFill>
        <p:spPr>
          <a:xfrm>
            <a:off x="1360170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19" name="Picture 118" descr="zara_2.jpg"/>
          <p:cNvPicPr>
            <a:picLocks noChangeAspect="1"/>
          </p:cNvPicPr>
          <p:nvPr/>
        </p:nvPicPr>
        <p:blipFill>
          <a:blip r:embed="rId11"/>
          <a:srcRect l="10075" r="10075"/>
          <a:stretch>
            <a:fillRect/>
          </a:stretch>
        </p:blipFill>
        <p:spPr>
          <a:xfrm>
            <a:off x="1497965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0" name="Picture 119" descr="zara_3.jpg"/>
          <p:cNvPicPr>
            <a:picLocks noChangeAspect="1"/>
          </p:cNvPicPr>
          <p:nvPr/>
        </p:nvPicPr>
        <p:blipFill>
          <a:blip r:embed="rId12"/>
          <a:srcRect l="10075" r="10075"/>
          <a:stretch>
            <a:fillRect/>
          </a:stretch>
        </p:blipFill>
        <p:spPr>
          <a:xfrm>
            <a:off x="16357600" y="133635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1" name="TextBox 120"/>
          <p:cNvSpPr txBox="1"/>
          <p:nvPr/>
        </p:nvSpPr>
        <p:spPr>
          <a:xfrm>
            <a:off x="13754100" y="160305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快时尚标杆,极速跟进 T 台趋势,每周上新驱动尝鲜式购买,时尚度高、中端价格。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3754100" y="173545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3754100" y="173926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快时尚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4373225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4373225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潮流跟进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5116175" y="173545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5116175" y="17392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每周上新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71500" y="179641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23900" y="180975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Princess Polly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905250" y="180975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905250" y="181260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71500" y="184594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Picture 132" descr="princesspolly_1.jpg"/>
          <p:cNvPicPr>
            <a:picLocks noChangeAspect="1"/>
          </p:cNvPicPr>
          <p:nvPr/>
        </p:nvPicPr>
        <p:blipFill>
          <a:blip r:embed="rId13"/>
          <a:srcRect l="13947" r="13947"/>
          <a:stretch>
            <a:fillRect/>
          </a:stretch>
        </p:blipFill>
        <p:spPr>
          <a:xfrm>
            <a:off x="571500" y="184689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4" name="Picture 133" descr="princesspolly_2.jpg"/>
          <p:cNvPicPr>
            <a:picLocks noChangeAspect="1"/>
          </p:cNvPicPr>
          <p:nvPr/>
        </p:nvPicPr>
        <p:blipFill>
          <a:blip r:embed="rId14"/>
          <a:srcRect l="13995" r="13995"/>
          <a:stretch>
            <a:fillRect/>
          </a:stretch>
        </p:blipFill>
        <p:spPr>
          <a:xfrm>
            <a:off x="1949450" y="184689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5" name="Picture 134" descr="princesspolly_3.jpg"/>
          <p:cNvPicPr>
            <a:picLocks noChangeAspect="1"/>
          </p:cNvPicPr>
          <p:nvPr/>
        </p:nvPicPr>
        <p:blipFill>
          <a:blip r:embed="rId15"/>
          <a:srcRect l="13995" r="13995"/>
          <a:stretch>
            <a:fillRect/>
          </a:stretch>
        </p:blipFill>
        <p:spPr>
          <a:xfrm>
            <a:off x="3327400" y="184689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6" name="TextBox 135"/>
          <p:cNvSpPr txBox="1"/>
          <p:nvPr/>
        </p:nvSpPr>
        <p:spPr>
          <a:xfrm>
            <a:off x="723900" y="211359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澳洲 Z 世代快时尚,聚焦派对、约会等社交场景,社媒与网红营销驱动,价格亲民、风格大胆。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2390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2390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Z 世代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46685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46685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派对场景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20980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20980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社媒驱动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4914900" y="179641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67300" y="180975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Free People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248650" y="180975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48650" y="181260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4914900" y="184594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8" name="Picture 147" descr="freepeople_own_1.jpg"/>
          <p:cNvPicPr>
            <a:picLocks noChangeAspect="1"/>
          </p:cNvPicPr>
          <p:nvPr/>
        </p:nvPicPr>
        <p:blipFill>
          <a:blip r:embed="rId16"/>
          <a:srcRect t="8410" b="8410"/>
          <a:stretch>
            <a:fillRect/>
          </a:stretch>
        </p:blipFill>
        <p:spPr>
          <a:xfrm>
            <a:off x="4914900" y="184689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49" name="Picture 148" descr="freepeople_own_3.jpg"/>
          <p:cNvPicPr>
            <a:picLocks noChangeAspect="1"/>
          </p:cNvPicPr>
          <p:nvPr/>
        </p:nvPicPr>
        <p:blipFill>
          <a:blip r:embed="rId17"/>
          <a:srcRect l="20933" r="20933"/>
          <a:stretch>
            <a:fillRect/>
          </a:stretch>
        </p:blipFill>
        <p:spPr>
          <a:xfrm>
            <a:off x="6981825" y="184689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0" name="TextBox 149"/>
          <p:cNvSpPr txBox="1"/>
          <p:nvPr/>
        </p:nvSpPr>
        <p:spPr>
          <a:xfrm>
            <a:off x="5067300" y="211359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URBN 集团旗下波西米亚风女装,自由浪漫的度假感与层叠穿搭,风格辨识度强,中高端价格。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6730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06730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波西米亚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10250" y="224599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810250" y="224980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度假风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29375" y="224599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29375" y="224980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中高端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258300" y="179641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410700" y="180975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House of CB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2592050" y="18097500"/>
            <a:ext cx="628650" cy="22860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592050" y="18126075"/>
            <a:ext cx="628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D5FB8"/>
                </a:solidFill>
                <a:latin typeface="PingFang SC"/>
                <a:ea typeface="PingFang SC"/>
              </a:rPr>
              <a:t>竞品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9258300" y="184594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2" name="Picture 161" descr="houseofcb_1.jpg"/>
          <p:cNvPicPr>
            <a:picLocks noChangeAspect="1"/>
          </p:cNvPicPr>
          <p:nvPr/>
        </p:nvPicPr>
        <p:blipFill>
          <a:blip r:embed="rId18"/>
          <a:srcRect l="10075" r="10075"/>
          <a:stretch>
            <a:fillRect/>
          </a:stretch>
        </p:blipFill>
        <p:spPr>
          <a:xfrm>
            <a:off x="9258300" y="184689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63" name="Picture 162" descr="houseofcb_2.jpg"/>
          <p:cNvPicPr>
            <a:picLocks noChangeAspect="1"/>
          </p:cNvPicPr>
          <p:nvPr/>
        </p:nvPicPr>
        <p:blipFill>
          <a:blip r:embed="rId19"/>
          <a:srcRect l="10075" r="10075"/>
          <a:stretch>
            <a:fillRect/>
          </a:stretch>
        </p:blipFill>
        <p:spPr>
          <a:xfrm>
            <a:off x="10636250" y="184689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64" name="Picture 163" descr="houseofcb_3.jpg"/>
          <p:cNvPicPr>
            <a:picLocks noChangeAspect="1"/>
          </p:cNvPicPr>
          <p:nvPr/>
        </p:nvPicPr>
        <p:blipFill>
          <a:blip r:embed="rId20"/>
          <a:srcRect l="10075" r="10075"/>
          <a:stretch>
            <a:fillRect/>
          </a:stretch>
        </p:blipFill>
        <p:spPr>
          <a:xfrm>
            <a:off x="12014200" y="184689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5" name="TextBox 164"/>
          <p:cNvSpPr txBox="1"/>
          <p:nvPr/>
        </p:nvSpPr>
        <p:spPr>
          <a:xfrm>
            <a:off x="9410700" y="211359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英国轻奢派对装品牌,以束身、紧身剪裁的「名媛感」礼服裙著称,名人穿搭效应显著,高溢价定位。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41070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41070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紧身礼服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15365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15365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名人效应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0896600" y="224599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896600" y="224980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高溢价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3601700" y="179641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3754100" y="180975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Enliva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6440150" y="18097500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6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6440150" y="18126075"/>
            <a:ext cx="1123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A6B0A"/>
                </a:solidFill>
                <a:latin typeface="PingFang SC"/>
                <a:ea typeface="PingFang SC"/>
              </a:rPr>
              <a:t>SHEIN 子品牌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3601700" y="184594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7" name="Picture 176" descr="enliva_1.jpg"/>
          <p:cNvPicPr>
            <a:picLocks noChangeAspect="1"/>
          </p:cNvPicPr>
          <p:nvPr/>
        </p:nvPicPr>
        <p:blipFill>
          <a:blip r:embed="rId21"/>
          <a:srcRect t="3217" b="3217"/>
          <a:stretch>
            <a:fillRect/>
          </a:stretch>
        </p:blipFill>
        <p:spPr>
          <a:xfrm>
            <a:off x="13601700" y="184689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78" name="Picture 177" descr="enliva_2.jpg"/>
          <p:cNvPicPr>
            <a:picLocks noChangeAspect="1"/>
          </p:cNvPicPr>
          <p:nvPr/>
        </p:nvPicPr>
        <p:blipFill>
          <a:blip r:embed="rId22"/>
          <a:srcRect t="3178" b="3178"/>
          <a:stretch>
            <a:fillRect/>
          </a:stretch>
        </p:blipFill>
        <p:spPr>
          <a:xfrm>
            <a:off x="15668625" y="184689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9" name="TextBox 178"/>
          <p:cNvSpPr txBox="1"/>
          <p:nvPr/>
        </p:nvSpPr>
        <p:spPr>
          <a:xfrm>
            <a:off x="13754100" y="211359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SHEIN 大码女装线,主打包容性尺码与舒适日常穿着,基础款为主,延续 SHEIN 大众价格优势。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375410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375410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大码女装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449705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449705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舒适日常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5240000" y="224599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5240000" y="224980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大众价格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571500" y="230695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23900" y="232029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ENCHNT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409950" y="23202900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6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409950" y="23231475"/>
            <a:ext cx="1123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A6B0A"/>
                </a:solidFill>
                <a:latin typeface="PingFang SC"/>
                <a:ea typeface="PingFang SC"/>
              </a:rPr>
              <a:t>SHEIN 子品牌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571500" y="235648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1" name="Picture 190" descr="enchnt_1.jpg"/>
          <p:cNvPicPr>
            <a:picLocks noChangeAspect="1"/>
          </p:cNvPicPr>
          <p:nvPr/>
        </p:nvPicPr>
        <p:blipFill>
          <a:blip r:embed="rId23"/>
          <a:srcRect t="3178" b="3178"/>
          <a:stretch>
            <a:fillRect/>
          </a:stretch>
        </p:blipFill>
        <p:spPr>
          <a:xfrm>
            <a:off x="571500" y="235743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92" name="Picture 191" descr="enchnt_2.jpg"/>
          <p:cNvPicPr>
            <a:picLocks noChangeAspect="1"/>
          </p:cNvPicPr>
          <p:nvPr/>
        </p:nvPicPr>
        <p:blipFill>
          <a:blip r:embed="rId24"/>
          <a:srcRect t="3178" b="3178"/>
          <a:stretch>
            <a:fillRect/>
          </a:stretch>
        </p:blipFill>
        <p:spPr>
          <a:xfrm>
            <a:off x="2638425" y="23574375"/>
            <a:ext cx="2047875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3" name="TextBox 192"/>
          <p:cNvSpPr txBox="1"/>
          <p:nvPr/>
        </p:nvSpPr>
        <p:spPr>
          <a:xfrm>
            <a:off x="723900" y="262413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SHEIN 浪漫甜美线,荷叶边、蕾丝、泡泡袖等少女感元素密集,面向年轻女性的约会与日常穿搭。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390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390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浪漫甜美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466850" y="275653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466850" y="276034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荷叶边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2085975" y="275653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085975" y="276034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少女感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4914900" y="230695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067300" y="232029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Anewsta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7753350" y="23202900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6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753350" y="23231475"/>
            <a:ext cx="1123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A6B0A"/>
                </a:solidFill>
                <a:latin typeface="PingFang SC"/>
                <a:ea typeface="PingFang SC"/>
              </a:rPr>
              <a:t>SHEIN 子品牌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4914900" y="235648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" name="Picture 204" descr="anewsta_1.jpg"/>
          <p:cNvPicPr>
            <a:picLocks noChangeAspect="1"/>
          </p:cNvPicPr>
          <p:nvPr/>
        </p:nvPicPr>
        <p:blipFill>
          <a:blip r:embed="rId25"/>
          <a:srcRect l="14570" r="14570"/>
          <a:stretch>
            <a:fillRect/>
          </a:stretch>
        </p:blipFill>
        <p:spPr>
          <a:xfrm>
            <a:off x="491490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06" name="Picture 205" descr="anewsta_2.jpg"/>
          <p:cNvPicPr>
            <a:picLocks noChangeAspect="1"/>
          </p:cNvPicPr>
          <p:nvPr/>
        </p:nvPicPr>
        <p:blipFill>
          <a:blip r:embed="rId26"/>
          <a:srcRect l="14570" r="14570"/>
          <a:stretch>
            <a:fillRect/>
          </a:stretch>
        </p:blipFill>
        <p:spPr>
          <a:xfrm>
            <a:off x="629285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07" name="Picture 206" descr="anewsta_3.jpg"/>
          <p:cNvPicPr>
            <a:picLocks noChangeAspect="1"/>
          </p:cNvPicPr>
          <p:nvPr/>
        </p:nvPicPr>
        <p:blipFill>
          <a:blip r:embed="rId27"/>
          <a:srcRect l="14540" r="14540"/>
          <a:stretch>
            <a:fillRect/>
          </a:stretch>
        </p:blipFill>
        <p:spPr>
          <a:xfrm>
            <a:off x="7670799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8" name="TextBox 207"/>
          <p:cNvSpPr txBox="1"/>
          <p:nvPr/>
        </p:nvSpPr>
        <p:spPr>
          <a:xfrm>
            <a:off x="5067300" y="262413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SHEIN 轻熟优雅线,通勤与半正式场景的连衣裙为主,克制的设计语言,平价实现「得体感」。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506730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506730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轻熟优雅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81025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81025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通勤场景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6553200" y="27565350"/>
            <a:ext cx="41910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553200" y="276034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平价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258300" y="230695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410700" y="232029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BELROSIE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2096750" y="23202900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6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2096750" y="23231475"/>
            <a:ext cx="1123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A6B0A"/>
                </a:solidFill>
                <a:latin typeface="PingFang SC"/>
                <a:ea typeface="PingFang SC"/>
              </a:rPr>
              <a:t>SHEIN 子品牌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9258300" y="235648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0" name="Picture 219" descr="belrosie_1.jpg"/>
          <p:cNvPicPr>
            <a:picLocks noChangeAspect="1"/>
          </p:cNvPicPr>
          <p:nvPr/>
        </p:nvPicPr>
        <p:blipFill>
          <a:blip r:embed="rId28"/>
          <a:srcRect l="14570" r="14570"/>
          <a:stretch>
            <a:fillRect/>
          </a:stretch>
        </p:blipFill>
        <p:spPr>
          <a:xfrm>
            <a:off x="925830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21" name="Picture 220" descr="belrosie_2.jpg"/>
          <p:cNvPicPr>
            <a:picLocks noChangeAspect="1"/>
          </p:cNvPicPr>
          <p:nvPr/>
        </p:nvPicPr>
        <p:blipFill>
          <a:blip r:embed="rId29"/>
          <a:srcRect l="14555" r="14555"/>
          <a:stretch>
            <a:fillRect/>
          </a:stretch>
        </p:blipFill>
        <p:spPr>
          <a:xfrm>
            <a:off x="1063625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22" name="Picture 221" descr="belrosie_3.jpg"/>
          <p:cNvPicPr>
            <a:picLocks noChangeAspect="1"/>
          </p:cNvPicPr>
          <p:nvPr/>
        </p:nvPicPr>
        <p:blipFill>
          <a:blip r:embed="rId30"/>
          <a:srcRect l="14540" r="14540"/>
          <a:stretch>
            <a:fillRect/>
          </a:stretch>
        </p:blipFill>
        <p:spPr>
          <a:xfrm>
            <a:off x="1201420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3" name="TextBox 222"/>
          <p:cNvSpPr txBox="1"/>
          <p:nvPr/>
        </p:nvSpPr>
        <p:spPr>
          <a:xfrm>
            <a:off x="9410700" y="262413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SHEIN 法式浪漫线,碎花、方领、收腰等法式复古元素,营造慵懒浪漫的假日氛围,价格亲民。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941070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941070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法式浪漫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15365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015365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复古碎花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089660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89660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亲民价格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3601700" y="23069550"/>
            <a:ext cx="4114800" cy="4876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3754100" y="23202900"/>
            <a:ext cx="2476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PingFang SC"/>
                <a:ea typeface="PingFang SC"/>
              </a:rPr>
              <a:t>MOTF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6440150" y="23202900"/>
            <a:ext cx="1123950" cy="228600"/>
          </a:xfrm>
          <a:prstGeom prst="roundRect">
            <a:avLst>
              <a:gd name="adj" fmla="val 50000"/>
            </a:avLst>
          </a:prstGeom>
          <a:solidFill>
            <a:srgbClr val="E6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6440150" y="23231475"/>
            <a:ext cx="1123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A6B0A"/>
                </a:solidFill>
                <a:latin typeface="PingFang SC"/>
                <a:ea typeface="PingFang SC"/>
              </a:rPr>
              <a:t>SHEIN 子品牌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13601700" y="23564850"/>
            <a:ext cx="4114800" cy="0"/>
          </a:xfrm>
          <a:prstGeom prst="line">
            <a:avLst/>
          </a:prstGeom>
          <a:ln w="9525">
            <a:solidFill>
              <a:srgbClr val="EEF0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5" name="Picture 234" descr="motf_1.jpg"/>
          <p:cNvPicPr>
            <a:picLocks noChangeAspect="1"/>
          </p:cNvPicPr>
          <p:nvPr/>
        </p:nvPicPr>
        <p:blipFill>
          <a:blip r:embed="rId31"/>
          <a:srcRect l="14555" r="14555"/>
          <a:stretch>
            <a:fillRect/>
          </a:stretch>
        </p:blipFill>
        <p:spPr>
          <a:xfrm>
            <a:off x="1360170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36" name="Picture 235" descr="motf_2.jpg"/>
          <p:cNvPicPr>
            <a:picLocks noChangeAspect="1"/>
          </p:cNvPicPr>
          <p:nvPr/>
        </p:nvPicPr>
        <p:blipFill>
          <a:blip r:embed="rId32"/>
          <a:srcRect l="14570" r="14570"/>
          <a:stretch>
            <a:fillRect/>
          </a:stretch>
        </p:blipFill>
        <p:spPr>
          <a:xfrm>
            <a:off x="1497965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37" name="Picture 236" descr="motf_3.jpg"/>
          <p:cNvPicPr>
            <a:picLocks noChangeAspect="1"/>
          </p:cNvPicPr>
          <p:nvPr/>
        </p:nvPicPr>
        <p:blipFill>
          <a:blip r:embed="rId33"/>
          <a:srcRect l="14570" r="14570"/>
          <a:stretch>
            <a:fillRect/>
          </a:stretch>
        </p:blipFill>
        <p:spPr>
          <a:xfrm>
            <a:off x="16357600" y="23574375"/>
            <a:ext cx="1358900" cy="2552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8" name="TextBox 237"/>
          <p:cNvSpPr txBox="1"/>
          <p:nvPr/>
        </p:nvSpPr>
        <p:spPr>
          <a:xfrm>
            <a:off x="13754100" y="26241375"/>
            <a:ext cx="381000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374151"/>
                </a:solidFill>
                <a:latin typeface="PingFang SC"/>
                <a:ea typeface="PingFang SC"/>
              </a:rPr>
              <a:t>SHEIN 高端线,精选面料与更考究的工艺,以「平价轻奢」切入品质敏感型用户,价格高于主站但仍具优势。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375410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375410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平价轻奢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4497050" y="27565350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4497050" y="276034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品质面料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15240000" y="27565350"/>
            <a:ext cx="542925" cy="2286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5240000" y="27603450"/>
            <a:ext cx="542925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B5563"/>
                </a:solidFill>
                <a:latin typeface="PingFang SC"/>
                <a:ea typeface="PingFang SC"/>
              </a:rPr>
              <a:t>高端线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